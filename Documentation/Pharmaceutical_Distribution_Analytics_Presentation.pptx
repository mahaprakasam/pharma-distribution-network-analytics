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41F9F-6795-484D-BE1B-761B5363B76C}" v="55" dt="2026-08-24T19:44:47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 prakasam" userId="fee5ce570f232225" providerId="Windows Live" clId="Web-{01141F9F-6795-484D-BE1B-761B5363B76C}"/>
    <pc:docChg chg="modSld">
      <pc:chgData name="maha prakasam" userId="fee5ce570f232225" providerId="Windows Live" clId="Web-{01141F9F-6795-484D-BE1B-761B5363B76C}" dt="2026-08-24T19:44:47.080" v="54" actId="1076"/>
      <pc:docMkLst>
        <pc:docMk/>
      </pc:docMkLst>
      <pc:sldChg chg="modSp">
        <pc:chgData name="maha prakasam" userId="fee5ce570f232225" providerId="Windows Live" clId="Web-{01141F9F-6795-484D-BE1B-761B5363B76C}" dt="2026-08-24T19:41:13.490" v="29" actId="20577"/>
        <pc:sldMkLst>
          <pc:docMk/>
          <pc:sldMk cId="0" sldId="256"/>
        </pc:sldMkLst>
        <pc:spChg chg="mod">
          <ac:chgData name="maha prakasam" userId="fee5ce570f232225" providerId="Windows Live" clId="Web-{01141F9F-6795-484D-BE1B-761B5363B76C}" dt="2026-08-24T19:38:57.217" v="14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maha prakasam" userId="fee5ce570f232225" providerId="Windows Live" clId="Web-{01141F9F-6795-484D-BE1B-761B5363B76C}" dt="2026-08-24T19:39:10.327" v="16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maha prakasam" userId="fee5ce570f232225" providerId="Windows Live" clId="Web-{01141F9F-6795-484D-BE1B-761B5363B76C}" dt="2026-08-24T19:41:13.490" v="29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maha prakasam" userId="fee5ce570f232225" providerId="Windows Live" clId="Web-{01141F9F-6795-484D-BE1B-761B5363B76C}" dt="2026-08-24T19:42:37.666" v="30" actId="1076"/>
        <pc:sldMkLst>
          <pc:docMk/>
          <pc:sldMk cId="0" sldId="264"/>
        </pc:sldMkLst>
        <pc:picChg chg="mod">
          <ac:chgData name="maha prakasam" userId="fee5ce570f232225" providerId="Windows Live" clId="Web-{01141F9F-6795-484D-BE1B-761B5363B76C}" dt="2026-08-24T19:42:37.666" v="30" actId="1076"/>
          <ac:picMkLst>
            <pc:docMk/>
            <pc:sldMk cId="0" sldId="264"/>
            <ac:picMk id="37" creationId="{00000000-0000-0000-0000-000000000000}"/>
          </ac:picMkLst>
        </pc:picChg>
      </pc:sldChg>
      <pc:sldChg chg="modSp">
        <pc:chgData name="maha prakasam" userId="fee5ce570f232225" providerId="Windows Live" clId="Web-{01141F9F-6795-484D-BE1B-761B5363B76C}" dt="2026-08-24T19:44:47.080" v="54" actId="1076"/>
        <pc:sldMkLst>
          <pc:docMk/>
          <pc:sldMk cId="0" sldId="268"/>
        </pc:sldMkLst>
        <pc:spChg chg="mod">
          <ac:chgData name="maha prakasam" userId="fee5ce570f232225" providerId="Windows Live" clId="Web-{01141F9F-6795-484D-BE1B-761B5363B76C}" dt="2026-08-24T19:44:47.080" v="54" actId="1076"/>
          <ac:spMkLst>
            <pc:docMk/>
            <pc:sldMk cId="0" sldId="268"/>
            <ac:spMk id="46" creationId="{00000000-0000-0000-0000-000000000000}"/>
          </ac:spMkLst>
        </pc:spChg>
        <pc:spChg chg="mod">
          <ac:chgData name="maha prakasam" userId="fee5ce570f232225" providerId="Windows Live" clId="Web-{01141F9F-6795-484D-BE1B-761B5363B76C}" dt="2026-08-24T19:44:39.565" v="53" actId="20577"/>
          <ac:spMkLst>
            <pc:docMk/>
            <pc:sldMk cId="0" sldId="268"/>
            <ac:spMk id="4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F6CFF2-E0DE-47F7-AC5D-04336CEDC1FA}" type="datetimeFigureOut"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599F6-D319-415D-8437-5BC9DC0C876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48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937760" cy="49377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/icon_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888" y="798728"/>
            <a:ext cx="642823" cy="64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300" dirty="0">
              <a:solidFill>
                <a:srgbClr val="02C39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2326257"/>
            <a:ext cx="10198148" cy="1838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Pharmaceutical Distribution Network</a:t>
            </a:r>
            <a:endParaRPr lang="en-US" sz="4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 &amp; Regional Demand Analytics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68680" y="4617720"/>
            <a:ext cx="21945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•  Power BI  •  DAX  •  Power Query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5715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Mahalakshmi . P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22960" y="6199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FE8EF"/>
                </a:solidFill>
                <a:ea typeface="+mn-lt"/>
                <a:cs typeface="+mn-lt"/>
              </a:rPr>
              <a:t>AF05258357 </a:t>
            </a:r>
            <a:r>
              <a:rPr lang="en-US" sz="1400" b="1" dirty="0">
                <a:solidFill>
                  <a:srgbClr val="CFE8EF"/>
                </a:solidFill>
                <a:latin typeface="Calibri"/>
                <a:ea typeface="Calibri"/>
                <a:cs typeface="Calibri"/>
              </a:rPr>
              <a:t>| Data &amp; Business Analytics | </a:t>
            </a:r>
            <a:r>
              <a:rPr lang="en-US" sz="1400" b="1" dirty="0" err="1">
                <a:solidFill>
                  <a:srgbClr val="CFE8EF"/>
                </a:solidFill>
                <a:latin typeface="Calibri"/>
                <a:ea typeface="Calibri"/>
                <a:cs typeface="Calibri"/>
              </a:rPr>
              <a:t>Anudip</a:t>
            </a:r>
            <a:r>
              <a:rPr lang="en-US" sz="1400" b="1" dirty="0">
                <a:solidFill>
                  <a:srgbClr val="CFE8EF"/>
                </a:solidFill>
                <a:latin typeface="Calibri"/>
                <a:ea typeface="Calibri"/>
                <a:cs typeface="Calibri"/>
              </a:rPr>
              <a:t> Foundation</a:t>
            </a:r>
            <a:endParaRPr lang="en-US" sz="1400" b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pharmaceutical distribution operations to understand regional demand, inventory movement, spoilage risk, wastage, warehouse performance, and logistics efficiency — turning raw operational data into decision-ready business insight.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28346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76200" dist="25400" dir="5400000" algn="bl" rotWithShape="0">
              <a:srgbClr val="1D2B3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64845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ppt/icon_my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76" y="3715024"/>
            <a:ext cx="378927" cy="3789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42702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456285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SQL analysis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11880" y="3429000"/>
            <a:ext cx="28346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76200" dist="25400" dir="5400000" algn="bl" rotWithShape="0">
              <a:srgbClr val="1D2B3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13048" y="364845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ppt/icon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616" y="3715024"/>
            <a:ext cx="378927" cy="3789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13048" y="42702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813048" y="456285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ETL, modeling &amp; dashboards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48640" y="50749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support operational decision-making across the pharmaceutical distribution network.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720840" y="1417320"/>
            <a:ext cx="4937760" cy="3794760"/>
          </a:xfrm>
          <a:prstGeom prst="roundRect">
            <a:avLst>
              <a:gd name="adj" fmla="val 3614"/>
            </a:avLst>
          </a:prstGeom>
          <a:solidFill>
            <a:srgbClr val="21295C"/>
          </a:solidFill>
          <a:ln/>
        </p:spPr>
      </p:sp>
      <p:sp>
        <p:nvSpPr>
          <p:cNvPr id="17" name="Text 13"/>
          <p:cNvSpPr/>
          <p:nvPr/>
        </p:nvSpPr>
        <p:spPr>
          <a:xfrm>
            <a:off x="7086600" y="1691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08660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~15,000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7086600" y="27066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086600" y="30540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000" dirty="0"/>
          </a:p>
        </p:txBody>
      </p:sp>
      <p:sp>
        <p:nvSpPr>
          <p:cNvPr id="21" name="Text 17"/>
          <p:cNvSpPr/>
          <p:nvPr/>
        </p:nvSpPr>
        <p:spPr>
          <a:xfrm>
            <a:off x="7086600" y="3566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attributes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086600" y="39136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7086600" y="44256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pages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086600" y="47731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7086600" y="52852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DAX-driven KPIs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Distribution Network Analytics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&amp;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/icon_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18544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Background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distribution requires coordination between inventory, warehouse operations, storage conditions, transport networks and customer demand — across regions and product categories.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66674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5295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sufficient inventory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412394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986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stock movement &amp; regional demand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58114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4439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product spoilage &amp; expiry risk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503834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49011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delivery efficiency &amp; wastage control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72200" y="1508760"/>
            <a:ext cx="5486400" cy="4617720"/>
          </a:xfrm>
          <a:prstGeom prst="roundRect">
            <a:avLst>
              <a:gd name="adj" fmla="val 2376"/>
            </a:avLst>
          </a:prstGeom>
          <a:solidFill>
            <a:srgbClr val="065A82"/>
          </a:solidFill>
          <a:ln/>
        </p:spPr>
      </p:sp>
      <p:sp>
        <p:nvSpPr>
          <p:cNvPr id="18" name="Shape 15"/>
          <p:cNvSpPr/>
          <p:nvPr/>
        </p:nvSpPr>
        <p:spPr>
          <a:xfrm>
            <a:off x="6492240" y="178308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9" name="Image 1" descr="/home/claude/ppt/icon_pro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563" y="1854403"/>
            <a:ext cx="405994" cy="40599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492240" y="2514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proper monitoring, distribution networks face uneven regional demand, stock imbalances, spoilage, high wastage value, delayed deliveries and low fulfillment performance.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92240" y="3429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this project answers: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492240" y="38404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regions generate higher demand &amp; revenue?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92240" y="43251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efficiently are warehouses performing?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492240" y="480974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products drive the most wastage?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492240" y="529437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transport modes deliver best on time?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Distribution Network Analytics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/icon_my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" y="1872691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 &amp; data management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8013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/icon_my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203" y="1872691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Workbench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93592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 &amp; database development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3952" y="18013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/icon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275" y="1872691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55664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dashboard design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34856" y="1600200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36024" y="18013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pt/icon_et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7347" y="1872691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17736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&amp; cleaning (ETL)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730752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931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ppt/icon_d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" y="4003243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5994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31520" y="49651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KPI creation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10712" y="3730752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11880" y="3931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ppt/icon_datas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3203" y="4003243"/>
            <a:ext cx="405994" cy="4059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93592" y="45994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Excel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593592" y="49651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 &amp; storage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72784" y="3730752"/>
            <a:ext cx="26060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73952" y="3931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/home/claude/ppt/icon_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5275" y="4003243"/>
            <a:ext cx="405994" cy="40599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55664" y="45994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455664" y="49651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 &amp; documentation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Distribution Network Analytics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Introduction &amp; Source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46120" cy="4572000"/>
          </a:xfrm>
          <a:prstGeom prst="roundRect">
            <a:avLst>
              <a:gd name="adj" fmla="val 3380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/icon_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47" y="190606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~15,000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2296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/ Columns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8920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synthetic, industry-based dataset prepared in Microsoft Excel to reflect realistic pharma distribution scenarios.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69080" y="1554480"/>
            <a:ext cx="37947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1682496"/>
            <a:ext cx="82296" cy="77724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4416552" y="1645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Information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16552" y="19568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Order Date, Customer Type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46720" y="1554480"/>
            <a:ext cx="37947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83880" y="1682496"/>
            <a:ext cx="82296" cy="77724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1645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394192" y="19568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State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069080" y="2715768"/>
            <a:ext cx="37947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06240" y="2843784"/>
            <a:ext cx="82296" cy="77724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22" name="Text 19"/>
          <p:cNvSpPr/>
          <p:nvPr/>
        </p:nvSpPr>
        <p:spPr>
          <a:xfrm>
            <a:off x="4416552" y="28072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416552" y="31181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ID, Warehouse Name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046720" y="2715768"/>
            <a:ext cx="37947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83880" y="2843784"/>
            <a:ext cx="82296" cy="77724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26" name="Text 23"/>
          <p:cNvSpPr/>
          <p:nvPr/>
        </p:nvSpPr>
        <p:spPr>
          <a:xfrm>
            <a:off x="8394192" y="28072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394192" y="31181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ID, Product Name, Category, Dosage Form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069080" y="3877056"/>
            <a:ext cx="37947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06240" y="4005072"/>
            <a:ext cx="82296" cy="77724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30" name="Text 27"/>
          <p:cNvSpPr/>
          <p:nvPr/>
        </p:nvSpPr>
        <p:spPr>
          <a:xfrm>
            <a:off x="4416552" y="39684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416552" y="42793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/ Available / Closing Stock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77056"/>
            <a:ext cx="37947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183880" y="4005072"/>
            <a:ext cx="82296" cy="77724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34" name="Text 31"/>
          <p:cNvSpPr/>
          <p:nvPr/>
        </p:nvSpPr>
        <p:spPr>
          <a:xfrm>
            <a:off x="8394192" y="39684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Spoilage &amp; Storage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8394192" y="42793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Risk, Spoiled Qty, Storage Days, Days to Expiry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069080" y="5038344"/>
            <a:ext cx="37947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206240" y="5166360"/>
            <a:ext cx="82296" cy="77724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38" name="Text 35"/>
          <p:cNvSpPr/>
          <p:nvPr/>
        </p:nvSpPr>
        <p:spPr>
          <a:xfrm>
            <a:off x="4416552" y="51297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4416552" y="5440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Mode, Distance, Delivery Days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046720" y="5038344"/>
            <a:ext cx="379476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183880" y="5166360"/>
            <a:ext cx="82296" cy="77724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42" name="Text 39"/>
          <p:cNvSpPr/>
          <p:nvPr/>
        </p:nvSpPr>
        <p:spPr>
          <a:xfrm>
            <a:off x="8394192" y="51297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8394192" y="5440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Distribution Cost, Wastage Value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Distribution Network Analytics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— Database &amp; Tables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MySQL database was created to store and manage the pharmaceutical distribution dataset, providing a reliable foundation for SQL-based analysis before the data moved into Power BI.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ppt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014594"/>
            <a:ext cx="243596" cy="2435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990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revenue analysis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ppt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517514"/>
            <a:ext cx="243596" cy="2435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3493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warehouse performance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ppt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4020434"/>
            <a:ext cx="243596" cy="2435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995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spoilage &amp; wastage analysis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48056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/home/claude/ppt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4523354"/>
            <a:ext cx="243596" cy="2435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4498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mode &amp; delivery analysis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035040" y="1463040"/>
            <a:ext cx="5623560" cy="4709160"/>
          </a:xfrm>
          <a:prstGeom prst="roundRect">
            <a:avLst>
              <a:gd name="adj" fmla="val 2330"/>
            </a:avLst>
          </a:prstGeom>
          <a:solidFill>
            <a:srgbClr val="21295C"/>
          </a:solidFill>
          <a:ln/>
        </p:spPr>
      </p:sp>
      <p:sp>
        <p:nvSpPr>
          <p:cNvPr id="19" name="Shape 13"/>
          <p:cNvSpPr/>
          <p:nvPr/>
        </p:nvSpPr>
        <p:spPr>
          <a:xfrm>
            <a:off x="6263640" y="1691640"/>
            <a:ext cx="128016" cy="128016"/>
          </a:xfrm>
          <a:prstGeom prst="ellipse">
            <a:avLst/>
          </a:prstGeom>
          <a:solidFill>
            <a:srgbClr val="F45B69"/>
          </a:solidFill>
          <a:ln/>
        </p:spPr>
      </p:sp>
      <p:sp>
        <p:nvSpPr>
          <p:cNvPr id="20" name="Shape 14"/>
          <p:cNvSpPr/>
          <p:nvPr/>
        </p:nvSpPr>
        <p:spPr>
          <a:xfrm>
            <a:off x="6473952" y="1691640"/>
            <a:ext cx="128016" cy="128016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21" name="Shape 15"/>
          <p:cNvSpPr/>
          <p:nvPr/>
        </p:nvSpPr>
        <p:spPr>
          <a:xfrm>
            <a:off x="6684264" y="16916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6"/>
          <p:cNvSpPr/>
          <p:nvPr/>
        </p:nvSpPr>
        <p:spPr>
          <a:xfrm>
            <a:off x="6355080" y="201168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phramadistribution_db;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phramadistribution_db;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distribution_data (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order_id        VARCHAR(20),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order_date      DATE,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warehouse_name  VARCHAR(50),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         VARCHAR(30),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           VARCHAR(30),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product_name    VARCHAR(50),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available_stock INT,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closing_stock   INT,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spoiled_qty     INT,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revenue         DECIMAL(12,2)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Distribution Network Analytics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MySQL with Power BI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was connected directly to the MySQL database, allowing the cleaned distribution table to be pulled into Power Query for transformation and modeling.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68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25880" y="265176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8" name="Image 0" descr="/home/claude/ppt/icon_my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865" y="2758745"/>
            <a:ext cx="608990" cy="6089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Database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4160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phramadistribution_db hosts the cleaned distribution table.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172968" y="352044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474720" y="233172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0" y="2468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251960" y="265176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5" name="Image 1" descr="/home/claude/ppt/icon_conn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945" y="2758745"/>
            <a:ext cx="608990" cy="60899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57600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Data → MySQL Connector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657600" y="4160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BI's native MySQL connector authenticates and links to the server.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099048" y="352044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400800" y="233172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20" name="Text 16"/>
          <p:cNvSpPr/>
          <p:nvPr/>
        </p:nvSpPr>
        <p:spPr>
          <a:xfrm>
            <a:off x="6583680" y="2468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7178040" y="265176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2" name="Image 2" descr="/home/claude/ppt/icon_et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5025" y="2758745"/>
            <a:ext cx="608990" cy="60899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83680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 Editor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583680" y="4160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loads into Power Query for inspection &amp; transformation.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9025128" y="352044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9326880" y="233172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27" name="Text 22"/>
          <p:cNvSpPr/>
          <p:nvPr/>
        </p:nvSpPr>
        <p:spPr>
          <a:xfrm>
            <a:off x="9509760" y="2468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10104120" y="265176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9" name="Image 3" descr="/home/claude/ppt/icon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1105" y="2758745"/>
            <a:ext cx="608990" cy="60899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509760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Data Model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9509760" y="4160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data feeds DAX measures and the report canvas.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Distribution Network Analytics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Process &amp; Data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2763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/icon_conn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76" y="1694200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727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1945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connected from the MySQL project data source.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70832" y="14630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62763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/icon_et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568" y="1694200"/>
            <a:ext cx="378927" cy="378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15727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0" y="21945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reviewed types, blanks, categories, duplicates &amp; numeric validity.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93024" y="14630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62763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/icon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760" y="1694200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15984" y="15727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94192" y="21945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loaded into the Power BI data model.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864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VALIDATION CHECKS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6576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60120" y="360273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/ blank values across relevant columns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48640" y="41148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</p:sp>
      <p:sp>
        <p:nvSpPr>
          <p:cNvPr id="24" name="Text 19"/>
          <p:cNvSpPr/>
          <p:nvPr/>
        </p:nvSpPr>
        <p:spPr>
          <a:xfrm>
            <a:off x="548640" y="409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960120" y="405993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inconsistent categorical values &amp; naming formats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48640" y="45720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</p:sp>
      <p:sp>
        <p:nvSpPr>
          <p:cNvPr id="27" name="Text 22"/>
          <p:cNvSpPr/>
          <p:nvPr/>
        </p:nvSpPr>
        <p:spPr>
          <a:xfrm>
            <a:off x="548640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960120" y="451713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Order ID uniqueness (duplicate check)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548640" y="5029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</p:sp>
      <p:sp>
        <p:nvSpPr>
          <p:cNvPr id="30" name="Text 25"/>
          <p:cNvSpPr/>
          <p:nvPr/>
        </p:nvSpPr>
        <p:spPr>
          <a:xfrm>
            <a:off x="548640" y="5010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960120" y="497433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numeric fields — stock, quantity, delivery days, expiry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548640" y="54864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</p:sp>
      <p:sp>
        <p:nvSpPr>
          <p:cNvPr id="33" name="Text 28"/>
          <p:cNvSpPr/>
          <p:nvPr/>
        </p:nvSpPr>
        <p:spPr>
          <a:xfrm>
            <a:off x="548640" y="5468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960120" y="543153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business-rule validation for logical consistency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Distribution Network Analytics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DAX Measures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DAX measures were built in Power BI to power KPI cards and analytical visuals across all four dashboard pages.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15798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ppt/icon_d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36" y="2210288"/>
            <a:ext cx="297729" cy="2977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6334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Orders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" y="29992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COUNTROWS(distribution_data)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410712" y="20116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11" name="Shape 8"/>
          <p:cNvSpPr/>
          <p:nvPr/>
        </p:nvSpPr>
        <p:spPr>
          <a:xfrm>
            <a:off x="3575304" y="215798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ppt/icon_d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608" y="2210288"/>
            <a:ext cx="297729" cy="2977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26334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75304" y="29992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SUM(distribution_data[Revenue])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272784" y="20116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16" name="Shape 12"/>
          <p:cNvSpPr/>
          <p:nvPr/>
        </p:nvSpPr>
        <p:spPr>
          <a:xfrm>
            <a:off x="6437376" y="215798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/home/claude/ppt/icon_d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680" y="2210288"/>
            <a:ext cx="297729" cy="2977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37376" y="26334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Fulfillment Rate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37376" y="29992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DIVIDE([Fulfilled Qty],[Order Qty])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9134856" y="20116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21" name="Shape 16"/>
          <p:cNvSpPr/>
          <p:nvPr/>
        </p:nvSpPr>
        <p:spPr>
          <a:xfrm>
            <a:off x="9299448" y="215798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3" descr="/home/claude/ppt/icon_d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752" y="2210288"/>
            <a:ext cx="297729" cy="2977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26334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Delivery Days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299448" y="29992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AVERAGE(distribution_data[Delivery Days])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48640" y="38404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26" name="Shape 20"/>
          <p:cNvSpPr/>
          <p:nvPr/>
        </p:nvSpPr>
        <p:spPr>
          <a:xfrm>
            <a:off x="713232" y="398678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4" descr="/home/claude/ppt/icon_d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36" y="4039088"/>
            <a:ext cx="297729" cy="29772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3232" y="44622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Available Stock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13232" y="48280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SUM(distribution_data[Available Stock])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3410712" y="38404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31" name="Shape 24"/>
          <p:cNvSpPr/>
          <p:nvPr/>
        </p:nvSpPr>
        <p:spPr>
          <a:xfrm>
            <a:off x="3575304" y="398678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2" name="Image 5" descr="/home/claude/ppt/icon_d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608" y="4039088"/>
            <a:ext cx="297729" cy="29772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75304" y="44622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Wastage Value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3575304" y="48280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SUM(distribution_data[Wastage Value])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6272784" y="38404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36" name="Shape 28"/>
          <p:cNvSpPr/>
          <p:nvPr/>
        </p:nvSpPr>
        <p:spPr>
          <a:xfrm>
            <a:off x="6437376" y="398678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7" name="Image 6" descr="/home/claude/ppt/icon_d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435" y="4039088"/>
            <a:ext cx="297729" cy="297729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37376" y="44622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Spoiled Quantity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437376" y="48280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SUM(distribution_data[Spoiled Quantity])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9134856" y="384048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41" name="Shape 32"/>
          <p:cNvSpPr/>
          <p:nvPr/>
        </p:nvSpPr>
        <p:spPr>
          <a:xfrm>
            <a:off x="9299448" y="398678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2" name="Image 7" descr="/home/claude/ppt/icon_d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752" y="4039088"/>
            <a:ext cx="297729" cy="297729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299448" y="44622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Spoilage Rate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9299448" y="48280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DIVIDE([Spoiled Qty],[Order Qty])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Distribution Network Analytics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 — Pages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dashboard is organized into four interactive pages, connected with navigation buttons for smooth movement between views.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06040"/>
            <a:ext cx="269748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1531620" y="251460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9" name="Image 0" descr="/home/claude/ppt/ico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718" y="2609698"/>
            <a:ext cx="541325" cy="5413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Executive Overview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40690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KPIs, revenue trend, orders by region &amp; delivery performance.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47288" y="210312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47288" y="210312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4" name="Shape 11"/>
          <p:cNvSpPr/>
          <p:nvPr/>
        </p:nvSpPr>
        <p:spPr>
          <a:xfrm>
            <a:off x="3447288" y="2606040"/>
            <a:ext cx="269748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2"/>
          <p:cNvSpPr/>
          <p:nvPr/>
        </p:nvSpPr>
        <p:spPr>
          <a:xfrm>
            <a:off x="4430268" y="251460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1" descr="/home/claude/ppt/icon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366" y="2609698"/>
            <a:ext cx="541325" cy="5413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84448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Regional Demand &amp; Distribution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630168" y="40690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state/region, warehouse performance &amp; fulfillment rate.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345936" y="210312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45936" y="210312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21" name="Shape 17"/>
          <p:cNvSpPr/>
          <p:nvPr/>
        </p:nvSpPr>
        <p:spPr>
          <a:xfrm>
            <a:off x="6345936" y="2606040"/>
            <a:ext cx="269748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Shape 18"/>
          <p:cNvSpPr/>
          <p:nvPr/>
        </p:nvSpPr>
        <p:spPr>
          <a:xfrm>
            <a:off x="7328916" y="251460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3" name="Image 2" descr="/home/claude/ppt/icon_bo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014" y="2609698"/>
            <a:ext cx="541325" cy="5413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83096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Inventory, Spoilage &amp; Expiry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528816" y="40690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levels, spoilage risk distribution &amp; wastage value by product.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244584" y="210312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244584" y="210312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28" name="Shape 23"/>
          <p:cNvSpPr/>
          <p:nvPr/>
        </p:nvSpPr>
        <p:spPr>
          <a:xfrm>
            <a:off x="9244584" y="2606040"/>
            <a:ext cx="269748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Shape 24"/>
          <p:cNvSpPr/>
          <p:nvPr/>
        </p:nvSpPr>
        <p:spPr>
          <a:xfrm>
            <a:off x="10227564" y="251460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0" name="Image 3" descr="/home/claude/ppt/icon_tru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2662" y="2609698"/>
            <a:ext cx="541325" cy="54132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381744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Logistics &amp; Delivery Performance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9427464" y="40690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mode comparison, delivery status &amp; distance vs. delivery days.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Distribution Network Analytics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Pages &amp; Key Visuals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/ico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732788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221992"/>
            <a:ext cx="5084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Trend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Orders by Region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Delivery Performance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5 Products by Revenue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by Customer Type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09360" y="150876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6733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/icon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1732788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Demand &amp; Distribution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10528" y="2221992"/>
            <a:ext cx="5084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by State / Region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Warehouse Performance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Region-wise Fulfillment Rate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 Delivery Days by Region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 by Region Map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40507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/icon_bo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4110228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4069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Inventory, Spoilage &amp; Expiry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49808" y="4599432"/>
            <a:ext cx="5084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Available Stock vs Closing Stock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Spoilage Risk Distribution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Waste Value by Product Name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Days vs Spoiled Quantity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309360" y="388620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  <a:effectLst>
            <a:outerShdw blurRad="63500" dist="25400" dir="5400000" algn="bl" rotWithShape="0">
              <a:srgbClr val="1D2B3A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40507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ppt/icon_tru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388" y="4110228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069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Delivery Performance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510528" y="4599432"/>
            <a:ext cx="5084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Delivery Days by Transport Mode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Delivery Status Distribution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Distance vs Delivery Days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Transport Mode Performance Matrix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Distribution Network Analytics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 &amp;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Filters, Slicers &amp; 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160520" cy="46177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CF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ppt/icon_fil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18544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470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&amp; Slicers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give users control to explore the dashboard by their own dimension of interest, updating every visual on the page instantly.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3337560"/>
            <a:ext cx="3611880" cy="384048"/>
          </a:xfrm>
          <a:prstGeom prst="roundRect">
            <a:avLst>
              <a:gd name="adj" fmla="val 19048"/>
            </a:avLst>
          </a:prstGeom>
          <a:solidFill>
            <a:srgbClr val="CFE8EF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3649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&amp; State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813048"/>
            <a:ext cx="3611880" cy="384048"/>
          </a:xfrm>
          <a:prstGeom prst="roundRect">
            <a:avLst>
              <a:gd name="adj" fmla="val 19048"/>
            </a:avLst>
          </a:prstGeom>
          <a:solidFill>
            <a:srgbClr val="CFE8EF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8404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Name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4288536"/>
            <a:ext cx="3611880" cy="384048"/>
          </a:xfrm>
          <a:prstGeom prst="roundRect">
            <a:avLst>
              <a:gd name="adj" fmla="val 19048"/>
            </a:avLst>
          </a:prstGeom>
          <a:solidFill>
            <a:srgbClr val="CFE8EF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43159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/ Dosage Form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" y="4764024"/>
            <a:ext cx="3611880" cy="384048"/>
          </a:xfrm>
          <a:prstGeom prst="roundRect">
            <a:avLst>
              <a:gd name="adj" fmla="val 19048"/>
            </a:avLst>
          </a:prstGeom>
          <a:solidFill>
            <a:srgbClr val="CFE8EF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47914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2960" y="5239512"/>
            <a:ext cx="3611880" cy="384048"/>
          </a:xfrm>
          <a:prstGeom prst="roundRect">
            <a:avLst>
              <a:gd name="adj" fmla="val 19048"/>
            </a:avLst>
          </a:prstGeom>
          <a:solidFill>
            <a:srgbClr val="CFE8EF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52669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Mode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22960" y="5715000"/>
            <a:ext cx="3611880" cy="384048"/>
          </a:xfrm>
          <a:prstGeom prst="roundRect">
            <a:avLst>
              <a:gd name="adj" fmla="val 19048"/>
            </a:avLst>
          </a:prstGeom>
          <a:solidFill>
            <a:srgbClr val="CFE8EF"/>
          </a:solidFill>
          <a:ln/>
        </p:spPr>
      </p:sp>
      <p:sp>
        <p:nvSpPr>
          <p:cNvPr id="20" name="Text 17"/>
          <p:cNvSpPr/>
          <p:nvPr/>
        </p:nvSpPr>
        <p:spPr>
          <a:xfrm>
            <a:off x="960120" y="57424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(range)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937760" y="1508760"/>
            <a:ext cx="6720840" cy="4617720"/>
          </a:xfrm>
          <a:prstGeom prst="roundRect">
            <a:avLst>
              <a:gd name="adj" fmla="val 2376"/>
            </a:avLst>
          </a:prstGeom>
          <a:solidFill>
            <a:srgbClr val="21295C"/>
          </a:solidFill>
          <a:ln/>
        </p:spPr>
      </p:sp>
      <p:sp>
        <p:nvSpPr>
          <p:cNvPr id="22" name="Shape 19"/>
          <p:cNvSpPr/>
          <p:nvPr/>
        </p:nvSpPr>
        <p:spPr>
          <a:xfrm>
            <a:off x="5212080" y="1783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1" descr="/home/claude/ppt/icon_insigh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403" y="1854403"/>
            <a:ext cx="405994" cy="40599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897880" y="18470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212080" y="252374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2"/>
          <p:cNvSpPr/>
          <p:nvPr/>
        </p:nvSpPr>
        <p:spPr>
          <a:xfrm>
            <a:off x="5440680" y="238658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regional differences in demand &amp; revenue contribution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212080" y="295808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4"/>
          <p:cNvSpPr/>
          <p:nvPr/>
        </p:nvSpPr>
        <p:spPr>
          <a:xfrm>
            <a:off x="5440680" y="282092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warehouses consistently outperform on fulfillment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212080" y="339242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6"/>
          <p:cNvSpPr/>
          <p:nvPr/>
        </p:nvSpPr>
        <p:spPr>
          <a:xfrm>
            <a:off x="5440680" y="325526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vs. closing stock reveals inventory movement patterns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5212080" y="382676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28"/>
          <p:cNvSpPr/>
          <p:nvPr/>
        </p:nvSpPr>
        <p:spPr>
          <a:xfrm>
            <a:off x="5440680" y="368960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products drive a disproportionate share of wastage value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212080" y="426110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0"/>
          <p:cNvSpPr/>
          <p:nvPr/>
        </p:nvSpPr>
        <p:spPr>
          <a:xfrm>
            <a:off x="5440680" y="412394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risk is unevenly distributed across low / medium / high bands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212080" y="469544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2"/>
          <p:cNvSpPr/>
          <p:nvPr/>
        </p:nvSpPr>
        <p:spPr>
          <a:xfrm>
            <a:off x="5440680" y="455828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transport modes show notably longer average delivery times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5212080" y="5129784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4"/>
          <p:cNvSpPr/>
          <p:nvPr/>
        </p:nvSpPr>
        <p:spPr>
          <a:xfrm>
            <a:off x="5440680" y="499262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distance correlates with delivery days, but not uniformly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Distribution Network Analytics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2860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DELIVERABLES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 &amp; GitHub Repository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243584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FE8E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0136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96796" y="1783080"/>
            <a:ext cx="114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15668" y="1508760"/>
            <a:ext cx="1243584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98882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FE8E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1388" y="180136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63824" y="1783080"/>
            <a:ext cx="114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82696" y="1508760"/>
            <a:ext cx="1243584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FE8E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28416" y="180136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30852" y="1783080"/>
            <a:ext cx="114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49724" y="1508760"/>
            <a:ext cx="1243584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722876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FE8E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95444" y="180136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97880" y="1783080"/>
            <a:ext cx="114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16752" y="1508760"/>
            <a:ext cx="1243584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089904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FE8E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62472" y="180136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64908" y="1783080"/>
            <a:ext cx="114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83780" y="1508760"/>
            <a:ext cx="1243584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456932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FE8E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29500" y="180136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31936" y="1783080"/>
            <a:ext cx="114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750808" y="1508760"/>
            <a:ext cx="1243584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882396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FE8E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96528" y="180136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98964" y="1783080"/>
            <a:ext cx="114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117836" y="1508760"/>
            <a:ext cx="1243584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10190988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FE8E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163556" y="180136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2880360"/>
            <a:ext cx="5486400" cy="3246120"/>
          </a:xfrm>
          <a:prstGeom prst="roundRect">
            <a:avLst>
              <a:gd name="adj" fmla="val 3380"/>
            </a:avLst>
          </a:prstGeom>
          <a:solidFill>
            <a:srgbClr val="1A2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822960" y="3108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0" descr="/home/claude/ppt/icon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3174340"/>
            <a:ext cx="372161" cy="372161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463040" y="3172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Structure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868680" y="370332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Pharmaceutical-Distribution-Analytics/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README.md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Dataset/  (Excel source file)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SQL/  (database, table, queries)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PowerBI/  (.pbix dashboard)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Screenshots/  (4 dashboard pages)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8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Documentation/  (report &amp; deck)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263640" y="288036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1A2050"/>
          </a:solidFill>
          <a:ln/>
        </p:spPr>
      </p:sp>
      <p:sp>
        <p:nvSpPr>
          <p:cNvPr id="42" name="Shape 39"/>
          <p:cNvSpPr/>
          <p:nvPr/>
        </p:nvSpPr>
        <p:spPr>
          <a:xfrm>
            <a:off x="6537960" y="31089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3" name="Image 1" descr="/home/claude/ppt/icon_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3174340"/>
            <a:ext cx="372161" cy="372161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7178040" y="3172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1500" dirty="0"/>
          </a:p>
        </p:txBody>
      </p:sp>
      <p:sp>
        <p:nvSpPr>
          <p:cNvPr id="45" name="Text 41"/>
          <p:cNvSpPr/>
          <p:nvPr/>
        </p:nvSpPr>
        <p:spPr>
          <a:xfrm>
            <a:off x="6583680" y="370332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 → MySQL Database → SQL Analysis → Power BI ETL → Data Cleaning → Business Validation → DAX Measures → KPI Development → Dashboard Design → Business Insights.</a:t>
            </a:r>
            <a:endParaRPr lang="en-US" sz="1250" dirty="0"/>
          </a:p>
        </p:txBody>
      </p:sp>
      <p:sp>
        <p:nvSpPr>
          <p:cNvPr id="46" name="Text 42"/>
          <p:cNvSpPr/>
          <p:nvPr/>
        </p:nvSpPr>
        <p:spPr>
          <a:xfrm>
            <a:off x="6583680" y="507089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47" name="Text 43"/>
          <p:cNvSpPr/>
          <p:nvPr/>
        </p:nvSpPr>
        <p:spPr>
          <a:xfrm>
            <a:off x="6583680" y="5669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CFE8EF"/>
                </a:solidFill>
                <a:latin typeface="Calibri"/>
                <a:ea typeface="Calibri"/>
                <a:cs typeface="Calibri"/>
              </a:rPr>
              <a:t>Mahalakshmi . P</a:t>
            </a:r>
            <a:r>
              <a:rPr lang="en-US" sz="1400" dirty="0">
                <a:solidFill>
                  <a:srgbClr val="CFE8EF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 b="1" dirty="0">
              <a:solidFill>
                <a:srgbClr val="CFE8EF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 b="1" dirty="0">
                <a:solidFill>
                  <a:srgbClr val="CFE8EF"/>
                </a:solidFill>
                <a:ea typeface="Calibri"/>
                <a:cs typeface="Calibri"/>
              </a:rPr>
              <a:t>AF05258357 | Data &amp; Business Analytics | </a:t>
            </a:r>
            <a:r>
              <a:rPr lang="en-US" sz="1400" b="1" dirty="0" err="1">
                <a:solidFill>
                  <a:srgbClr val="CFE8EF"/>
                </a:solidFill>
                <a:ea typeface="Calibri"/>
                <a:cs typeface="Calibri"/>
              </a:rPr>
              <a:t>Anudip</a:t>
            </a:r>
            <a:r>
              <a:rPr lang="en-US" sz="1400" b="1" dirty="0">
                <a:solidFill>
                  <a:srgbClr val="CFE8EF"/>
                </a:solidFill>
                <a:ea typeface="Calibri"/>
                <a:cs typeface="Calibri"/>
              </a:rPr>
              <a:t> Foundation</a:t>
            </a:r>
            <a:endParaRPr lang="en-US" sz="14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 dirty="0">
              <a:solidFill>
                <a:srgbClr val="CFE8EF"/>
              </a:solidFill>
              <a:ea typeface="Calibri"/>
              <a:cs typeface="Calibri"/>
            </a:endParaRPr>
          </a:p>
          <a:p>
            <a:endParaRPr lang="en-US" sz="1150" dirty="0">
              <a:solidFill>
                <a:srgbClr val="CFE8EF"/>
              </a:solidFill>
              <a:ea typeface="Calibri"/>
              <a:cs typeface="Calibri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Distribution Network Analytics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26</cp:revision>
  <dcterms:created xsi:type="dcterms:W3CDTF">2026-08-24T19:35:12Z</dcterms:created>
  <dcterms:modified xsi:type="dcterms:W3CDTF">2026-08-24T19:44:50Z</dcterms:modified>
</cp:coreProperties>
</file>